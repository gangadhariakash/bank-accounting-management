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2" r:id="rId6"/>
    <p:sldId id="264" r:id="rId7"/>
    <p:sldId id="263" r:id="rId8"/>
    <p:sldId id="267" r:id="rId9"/>
    <p:sldId id="265" r:id="rId10"/>
    <p:sldId id="266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60" r:id="rId3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522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82470E-AB4C-4849-BFA8-FEFDBF3168B9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AEEC1E-C84E-4AA1-B026-7352D7C8BF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42229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AEEC1E-C84E-4AA1-B026-7352D7C8BF89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44561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Freeform 28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lumMod val="75000"/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302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077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4145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590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4153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022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392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4967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1873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908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450022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8603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044416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1004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450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405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cxnSp>
          <p:nvCxnSpPr>
            <p:cNvPr id="7" name="Straight Connector 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Freeform 8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5071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  <p:sldLayoutId id="2147483731" r:id="rId13"/>
    <p:sldLayoutId id="2147483732" r:id="rId14"/>
    <p:sldLayoutId id="2147483733" r:id="rId15"/>
    <p:sldLayoutId id="214748373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Banking &amp; Financial Data Analysis Project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SQL Commands &amp; Syntax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A646D52-4748-F527-AB84-502A265229C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9600" y="2661829"/>
            <a:ext cx="7924801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Analyzed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customer, account, and transaction data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identify usage patterns, transaction trends, and operational insights.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Designed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SQL queries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extract, join, and aggregate data from multiple tables for reporting and analysis.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Creation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2160590"/>
            <a:ext cx="7308916" cy="3880773"/>
          </a:xfrm>
        </p:spPr>
        <p:txBody>
          <a:bodyPr/>
          <a:lstStyle/>
          <a:p>
            <a:r>
              <a:rPr dirty="0"/>
              <a:t>CREATE DATABASE </a:t>
            </a:r>
            <a:r>
              <a:rPr lang="en-IN" dirty="0"/>
              <a:t>Banking_bi</a:t>
            </a:r>
            <a:r>
              <a:rPr dirty="0"/>
              <a:t>;</a:t>
            </a:r>
          </a:p>
          <a:p>
            <a:r>
              <a:rPr dirty="0"/>
              <a:t>USE bank</a:t>
            </a:r>
            <a:r>
              <a:rPr lang="en-IN" dirty="0"/>
              <a:t>ing_bi</a:t>
            </a:r>
            <a:r>
              <a:rPr dirty="0"/>
              <a:t>;</a:t>
            </a:r>
            <a:endParaRPr lang="en-IN" dirty="0"/>
          </a:p>
          <a:p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488228-EE51-D447-27F5-BE708B89DC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7811" y="3024131"/>
            <a:ext cx="6468378" cy="25659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Customer Table – SQL </a:t>
            </a:r>
            <a:r>
              <a:rPr dirty="0" err="1"/>
              <a:t>Synta</a:t>
            </a:r>
            <a:r>
              <a:rPr lang="en-IN" dirty="0"/>
              <a:t>x</a:t>
            </a: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US" dirty="0"/>
            </a:br>
            <a:endParaRPr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BD902A2-CEBB-D157-0A89-8D0F47E443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2231" y="1481861"/>
            <a:ext cx="7616858" cy="1525290"/>
          </a:xfrm>
        </p:spPr>
        <p:txBody>
          <a:bodyPr>
            <a:normAutofit fontScale="92500" lnSpcReduction="20000"/>
          </a:bodyPr>
          <a:lstStyle/>
          <a:p>
            <a:r>
              <a:rPr lang="en-US" sz="3000" dirty="0"/>
              <a:t>CREATE TABLE customer_1 ( customer_id INT PRIMARY KEY,customer_name VARCHAR(100),gender VARCHAR(10),city VARCHAR(50),join_date DATE);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341788-5220-B59B-BD07-53D8D63293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231" y="3339184"/>
            <a:ext cx="7722769" cy="317683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A0C59-6BE9-8A31-1CB0-89E5AB4A9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109" y="609600"/>
            <a:ext cx="6778203" cy="644165"/>
          </a:xfrm>
        </p:spPr>
        <p:txBody>
          <a:bodyPr>
            <a:normAutofit/>
          </a:bodyPr>
          <a:lstStyle/>
          <a:p>
            <a:pPr algn="ctr"/>
            <a:r>
              <a:rPr lang="en-IN" dirty="0"/>
              <a:t>Insert  Customer Data (DML)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6846534-7F4A-0957-C926-6A22E6BD84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645" y="1341545"/>
            <a:ext cx="7588577" cy="895547"/>
          </a:xfrm>
        </p:spPr>
        <p:txBody>
          <a:bodyPr>
            <a:normAutofit/>
          </a:bodyPr>
          <a:lstStyle/>
          <a:p>
            <a:r>
              <a:rPr lang="en-US" dirty="0"/>
              <a:t>INSERTINTOcustomer_1VALUES(1,'Akash','Male','Bengaluru','2022-01-10’);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E616BA-C3BE-E5A3-B7BC-854D0A6D5D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645" y="1957752"/>
            <a:ext cx="7346623" cy="4158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5191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F10A5-0BF6-0DAD-BB11-0747AEA4D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691299"/>
          </a:xfrm>
        </p:spPr>
        <p:txBody>
          <a:bodyPr/>
          <a:lstStyle/>
          <a:p>
            <a:pPr algn="ctr"/>
            <a:r>
              <a:rPr lang="en-IN" dirty="0"/>
              <a:t>SELECT QUERIES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CEC05-AD20-1A1C-635C-8C5DF89F25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281" y="1300899"/>
            <a:ext cx="6347714" cy="691300"/>
          </a:xfrm>
        </p:spPr>
        <p:txBody>
          <a:bodyPr/>
          <a:lstStyle/>
          <a:p>
            <a:r>
              <a:rPr lang="en-IN" dirty="0"/>
              <a:t>SELECT * FROM customer_1;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D6015F-C0BC-7F5A-B15A-E0E78D4982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508" y="1841833"/>
            <a:ext cx="8373644" cy="3715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4184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AF99086-C39F-F3CE-DF69-8A47F3B8C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823274"/>
          </a:xfrm>
        </p:spPr>
        <p:txBody>
          <a:bodyPr/>
          <a:lstStyle/>
          <a:p>
            <a:pPr algn="ctr"/>
            <a:r>
              <a:rPr lang="en-IN" dirty="0"/>
              <a:t>ACCOUNT TABLE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996E4796-0D11-15CC-DB8F-FC45C9B482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670" y="1244338"/>
            <a:ext cx="8050492" cy="14328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Syntax: CREATE</a:t>
            </a:r>
            <a:r>
              <a:rPr lang="en-US" dirty="0"/>
              <a:t> TABLE account (account_id INT PRIMARY KEY,customer_id INT, account_type VARCHAR(20),balance DECIMAL(15,2),</a:t>
            </a:r>
          </a:p>
          <a:p>
            <a:pPr marL="0" indent="0">
              <a:buNone/>
            </a:pPr>
            <a:r>
              <a:rPr lang="en-US" dirty="0"/>
              <a:t> status VARCHAR(20), FOREIGN KEY (customer_id) REFERENCES customer(customer_id));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DA57889-0D93-17BF-EBBF-DF62DBE88A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479" y="2677212"/>
            <a:ext cx="8345065" cy="3846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2103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31184-A25A-8E2F-DA06-F6E511914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317369"/>
            <a:ext cx="6347713" cy="1320800"/>
          </a:xfrm>
        </p:spPr>
        <p:txBody>
          <a:bodyPr/>
          <a:lstStyle/>
          <a:p>
            <a:pPr algn="ctr"/>
            <a:r>
              <a:rPr lang="en-IN" dirty="0"/>
              <a:t>Insert </a:t>
            </a:r>
            <a:r>
              <a:rPr lang="en-IN" dirty="0" err="1"/>
              <a:t>AccountData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D79812-DDA5-9CEF-D961-515591E0CB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8" y="1095362"/>
            <a:ext cx="6347714" cy="742866"/>
          </a:xfrm>
        </p:spPr>
        <p:txBody>
          <a:bodyPr>
            <a:normAutofit/>
          </a:bodyPr>
          <a:lstStyle/>
          <a:p>
            <a:r>
              <a:rPr lang="en-US" b="1" dirty="0"/>
              <a:t>Syntax:</a:t>
            </a:r>
            <a:r>
              <a:rPr lang="en-US" dirty="0"/>
              <a:t>INSERTINTOaccountVALUES101,1,'Savings',50000,'Active’);</a:t>
            </a:r>
            <a:endParaRPr lang="en-IN" dirty="0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7F7A6E8E-918B-5490-E252-0E481DB512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865" y="1857083"/>
            <a:ext cx="7356382" cy="4410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0735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09673-A06C-DA02-0E75-EBDC9A9E0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Select Queries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E93BBFF-346A-EA97-C590-456D0D7052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2976" y="1394925"/>
            <a:ext cx="6347714" cy="535475"/>
          </a:xfrm>
        </p:spPr>
        <p:txBody>
          <a:bodyPr/>
          <a:lstStyle/>
          <a:p>
            <a:r>
              <a:rPr lang="en-IN" dirty="0"/>
              <a:t>Syntax: Select * from account;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8D2EAD7-13F6-F83B-E172-2B71A6108F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31" y="2029060"/>
            <a:ext cx="8191893" cy="3238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268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04E02-2EEB-25BD-708B-F8DEFB82A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681872"/>
          </a:xfrm>
        </p:spPr>
        <p:txBody>
          <a:bodyPr/>
          <a:lstStyle/>
          <a:p>
            <a:pPr algn="ctr"/>
            <a:r>
              <a:rPr lang="en-IN" dirty="0"/>
              <a:t>TRANSACTION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44B8EF-2762-F487-55DA-0271F0CC2C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206" y="1194062"/>
            <a:ext cx="7475456" cy="681872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Syntax: CREATE </a:t>
            </a:r>
            <a:r>
              <a:rPr lang="en-US" dirty="0"/>
              <a:t>TABLE transaction_1 (transaction_id INT PRIMARY KEY, account_id INT,transaction_date DATE,  transaction_type VARCHAR(10),  amount DECIMAL(15,2),  FOREIGN KEY (account_id) REFERENCES account(account_id));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53BF13-63EC-A82F-7117-A8B3A691A4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218" y="1875934"/>
            <a:ext cx="7607431" cy="3980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5179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724F4-70B5-2E29-2D33-988A58422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710153"/>
          </a:xfrm>
        </p:spPr>
        <p:txBody>
          <a:bodyPr/>
          <a:lstStyle/>
          <a:p>
            <a:pPr algn="ctr"/>
            <a:r>
              <a:rPr lang="en-IN" dirty="0"/>
              <a:t>Insert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917C47-E971-7878-DEB1-31FFE6A6C9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1001" y="1319754"/>
            <a:ext cx="6347714" cy="801278"/>
          </a:xfrm>
        </p:spPr>
        <p:txBody>
          <a:bodyPr>
            <a:normAutofit fontScale="92500"/>
          </a:bodyPr>
          <a:lstStyle/>
          <a:p>
            <a:r>
              <a:rPr lang="en-US" b="1" dirty="0"/>
              <a:t>Syntax: </a:t>
            </a:r>
            <a:r>
              <a:rPr lang="en-US" dirty="0"/>
              <a:t>INSERT INTO transaction_1VALUES(1001,101,'2024-01-10','Credit',20000);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1974556-7CD7-4846-24E6-AA4E54D29D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" y="2026764"/>
            <a:ext cx="6935168" cy="3999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6008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EFDF7-AF2A-3565-E140-9FA9CD6B1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676877"/>
          </a:xfrm>
        </p:spPr>
        <p:txBody>
          <a:bodyPr/>
          <a:lstStyle/>
          <a:p>
            <a:pPr algn="ctr"/>
            <a:r>
              <a:rPr lang="en-IN" dirty="0"/>
              <a:t>Select Queries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2362A4-83D4-8AB4-3336-6AB40D528F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587" y="1286477"/>
            <a:ext cx="6347714" cy="676877"/>
          </a:xfrm>
        </p:spPr>
        <p:txBody>
          <a:bodyPr/>
          <a:lstStyle/>
          <a:p>
            <a:r>
              <a:rPr lang="en-IN" b="1" dirty="0"/>
              <a:t>Select * from transaction_1;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1634C6-22D5-4F9A-750D-60F4CF1088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29" y="1830075"/>
            <a:ext cx="7626285" cy="319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6052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1A883-DE8F-918D-66EA-3C51A1365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Filtering(Where Condition from Account 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3D5F35-8F68-70BE-C06B-7CA4628856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2231" y="1772239"/>
            <a:ext cx="7428322" cy="439113"/>
          </a:xfrm>
        </p:spPr>
        <p:txBody>
          <a:bodyPr>
            <a:normAutofit/>
          </a:bodyPr>
          <a:lstStyle/>
          <a:p>
            <a:r>
              <a:rPr lang="en-IN" dirty="0"/>
              <a:t>Syntax:</a:t>
            </a:r>
            <a:r>
              <a:rPr lang="en-US" dirty="0"/>
              <a:t>SELECT * FROM account WHERE balance &gt; 30000;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6ABBA1-883C-76EB-EE95-855FFD5010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121" y="2504339"/>
            <a:ext cx="7224542" cy="2114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0575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2398C-619F-20E3-D2BA-20417BE81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2403" y="336223"/>
            <a:ext cx="6347713" cy="1320800"/>
          </a:xfrm>
        </p:spPr>
        <p:txBody>
          <a:bodyPr/>
          <a:lstStyle/>
          <a:p>
            <a:r>
              <a:rPr lang="en-IN" dirty="0"/>
              <a:t>Filtering(Where Condition from transaction_1 )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97C811-637E-E810-30B5-E09F45D0FD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3376" y="1657023"/>
            <a:ext cx="7136091" cy="7354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Syntax: </a:t>
            </a:r>
            <a:r>
              <a:rPr lang="en-US" dirty="0"/>
              <a:t>SELECT * FROM transaction_1WHERE transaction_type =‘Credit';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D68775-EE6E-7630-7585-9683E44CCA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926" y="2895992"/>
            <a:ext cx="7305773" cy="2703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3028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4BFCA-82D6-39FA-E7E6-F673518E8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58" y="157113"/>
            <a:ext cx="6347713" cy="1320800"/>
          </a:xfrm>
        </p:spPr>
        <p:txBody>
          <a:bodyPr/>
          <a:lstStyle/>
          <a:p>
            <a:r>
              <a:rPr lang="en-IN" dirty="0"/>
              <a:t>AGGREGATE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6ED7A-4172-186C-E385-DF388EC4C6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758" y="1019948"/>
            <a:ext cx="6347714" cy="705158"/>
          </a:xfrm>
        </p:spPr>
        <p:txBody>
          <a:bodyPr/>
          <a:lstStyle/>
          <a:p>
            <a:r>
              <a:rPr lang="en-IN" dirty="0"/>
              <a:t>Syntax:</a:t>
            </a:r>
            <a:r>
              <a:rPr lang="en-US" dirty="0"/>
              <a:t>SELECT SUM(balance) AS </a:t>
            </a:r>
            <a:r>
              <a:rPr lang="en-US" dirty="0" err="1"/>
              <a:t>total_balance</a:t>
            </a:r>
            <a:r>
              <a:rPr lang="en-US" dirty="0"/>
              <a:t> FROM account;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1F6DE6-C198-5502-8EB0-33FA81E47E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084" y="1777987"/>
            <a:ext cx="6673409" cy="2057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3302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C0450-D9B2-6075-C875-30A9BB51D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658024"/>
          </a:xfrm>
        </p:spPr>
        <p:txBody>
          <a:bodyPr/>
          <a:lstStyle/>
          <a:p>
            <a:pPr algn="ctr"/>
            <a:r>
              <a:rPr lang="en-IN" dirty="0"/>
              <a:t>AGGREGATE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7050C0-307E-6AE8-8169-1A48C6F46E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2976" y="1502567"/>
            <a:ext cx="6347714" cy="65802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Syntax : SELECT AVG(amount) AS </a:t>
            </a:r>
            <a:r>
              <a:rPr lang="en-US" dirty="0" err="1"/>
              <a:t>avg_transactionFROM</a:t>
            </a:r>
            <a:r>
              <a:rPr lang="en-US" dirty="0"/>
              <a:t> transaction_1;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5B8730-42D9-32C8-6D46-5384563AE0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481" y="2254859"/>
            <a:ext cx="6733948" cy="2633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8389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34A5E-DB2C-53DA-2DE6-3ECEAA4FF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747860"/>
          </a:xfrm>
        </p:spPr>
        <p:txBody>
          <a:bodyPr/>
          <a:lstStyle/>
          <a:p>
            <a:pPr algn="ctr"/>
            <a:r>
              <a:rPr lang="en-IN" dirty="0"/>
              <a:t>GROUP BY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6D444E-C199-5C1B-2C02-A4965D1C55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148" y="1357460"/>
            <a:ext cx="6347714" cy="1016243"/>
          </a:xfrm>
        </p:spPr>
        <p:txBody>
          <a:bodyPr>
            <a:normAutofit/>
          </a:bodyPr>
          <a:lstStyle/>
          <a:p>
            <a:r>
              <a:rPr lang="en-US" dirty="0"/>
              <a:t>SELECT account_type, SUM(balance)FROM account GROUP BY account_type;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D901443-E8F3-2EEE-5A98-19A287DAF7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" y="2530638"/>
            <a:ext cx="6895159" cy="234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4761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14546-E455-D7F3-F023-B0DAFED04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076" y="194820"/>
            <a:ext cx="6347714" cy="587605"/>
          </a:xfrm>
        </p:spPr>
        <p:txBody>
          <a:bodyPr>
            <a:normAutofit fontScale="90000"/>
          </a:bodyPr>
          <a:lstStyle/>
          <a:p>
            <a:r>
              <a:rPr lang="en-IN" dirty="0"/>
              <a:t>JOINS INNER JOINS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F6FE26-F156-E47A-A9DE-AEAF3162BE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197" y="1095362"/>
            <a:ext cx="6347714" cy="931402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b="1" dirty="0"/>
              <a:t> Syntax: </a:t>
            </a:r>
            <a:r>
              <a:rPr lang="en-US" dirty="0"/>
              <a:t>SELECT customer_id,     c.full_name,a.account_id,a.account_type,a.balanceFROM customer c</a:t>
            </a:r>
          </a:p>
          <a:p>
            <a:pPr marL="0" indent="0">
              <a:buNone/>
            </a:pPr>
            <a:r>
              <a:rPr lang="en-US" dirty="0"/>
              <a:t>INNER JOIN account a ON C. customer_id = a. customer _id;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5F4D23-BCC8-904E-3080-0F4B2971F3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742" y="2268781"/>
            <a:ext cx="6829969" cy="4010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8417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72D47-08B1-B3BD-8898-B8260D996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09600"/>
            <a:ext cx="3962401" cy="832701"/>
          </a:xfrm>
        </p:spPr>
        <p:txBody>
          <a:bodyPr/>
          <a:lstStyle/>
          <a:p>
            <a:r>
              <a:rPr lang="en-IN" dirty="0"/>
              <a:t>LEFT JOIN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622EC-F14C-BC87-6681-7AB762FE58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770" y="1425300"/>
            <a:ext cx="6347714" cy="832701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SYNTAX : SELECT customer_id,    c.full_name,a.account_id,a.account_type,a.balanceFROM customer c</a:t>
            </a:r>
          </a:p>
          <a:p>
            <a:r>
              <a:rPr lang="en-US" dirty="0"/>
              <a:t>LEFT JOIN account a ON customer_id = a.customer_id;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DB2AC3-F073-981F-934B-0403621384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097" y="2538021"/>
            <a:ext cx="7447176" cy="3429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4147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28042-9E90-28AB-3C22-62F20FFB7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062" y="0"/>
            <a:ext cx="6347713" cy="1320800"/>
          </a:xfrm>
        </p:spPr>
        <p:txBody>
          <a:bodyPr/>
          <a:lstStyle/>
          <a:p>
            <a:r>
              <a:rPr lang="en-IN" dirty="0"/>
              <a:t>RIGHT JOINS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E736A6-76D0-2901-1ED0-A9B2088F6C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062" y="784398"/>
            <a:ext cx="6347714" cy="1072804"/>
          </a:xfrm>
        </p:spPr>
        <p:txBody>
          <a:bodyPr>
            <a:normAutofit/>
          </a:bodyPr>
          <a:lstStyle/>
          <a:p>
            <a:r>
              <a:rPr lang="en-IN" dirty="0"/>
              <a:t>Syntax:</a:t>
            </a:r>
            <a:r>
              <a:rPr lang="en-US" dirty="0"/>
              <a:t>SELECT c.full_name,  a.account_id,a.balance FROM customer c RIGHT JOIN account a   ON customer_id = a.customer_id;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3AD60E-1AA5-E829-02E6-3A534E86DB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062" y="1857202"/>
            <a:ext cx="7098384" cy="3991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9908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333FB-F92B-11A8-4BA8-BAC489B5D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FULL OUTER JOINS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F5B29D-994F-7B18-7665-C29FF566DB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219" y="1319754"/>
            <a:ext cx="7560296" cy="4721610"/>
          </a:xfrm>
        </p:spPr>
        <p:txBody>
          <a:bodyPr>
            <a:normAutofit fontScale="55000" lnSpcReduction="20000"/>
          </a:bodyPr>
          <a:lstStyle/>
          <a:p>
            <a:r>
              <a:rPr lang="en-IN" dirty="0"/>
              <a:t>SELECT </a:t>
            </a:r>
            <a:r>
              <a:rPr lang="en-IN" dirty="0" err="1"/>
              <a:t>c.customer_id</a:t>
            </a:r>
            <a:r>
              <a:rPr lang="en-IN" dirty="0"/>
              <a:t>,</a:t>
            </a:r>
          </a:p>
          <a:p>
            <a:r>
              <a:rPr lang="en-IN" dirty="0"/>
              <a:t>       </a:t>
            </a:r>
            <a:r>
              <a:rPr lang="en-IN" dirty="0" err="1"/>
              <a:t>c.full_name</a:t>
            </a:r>
            <a:r>
              <a:rPr lang="en-IN" dirty="0"/>
              <a:t>,</a:t>
            </a:r>
          </a:p>
          <a:p>
            <a:r>
              <a:rPr lang="en-IN" dirty="0"/>
              <a:t>       </a:t>
            </a:r>
            <a:r>
              <a:rPr lang="en-IN" dirty="0" err="1"/>
              <a:t>a.account_id</a:t>
            </a:r>
            <a:r>
              <a:rPr lang="en-IN" dirty="0"/>
              <a:t>,</a:t>
            </a:r>
          </a:p>
          <a:p>
            <a:r>
              <a:rPr lang="en-IN" dirty="0"/>
              <a:t>       </a:t>
            </a:r>
            <a:r>
              <a:rPr lang="en-IN" dirty="0" err="1"/>
              <a:t>a.account_type</a:t>
            </a:r>
            <a:r>
              <a:rPr lang="en-IN" dirty="0"/>
              <a:t>,</a:t>
            </a:r>
          </a:p>
          <a:p>
            <a:r>
              <a:rPr lang="en-IN" dirty="0"/>
              <a:t>       </a:t>
            </a:r>
            <a:r>
              <a:rPr lang="en-IN" dirty="0" err="1"/>
              <a:t>a.balance</a:t>
            </a:r>
            <a:endParaRPr lang="en-IN" dirty="0"/>
          </a:p>
          <a:p>
            <a:r>
              <a:rPr lang="en-IN" dirty="0"/>
              <a:t>FROM customer c</a:t>
            </a:r>
          </a:p>
          <a:p>
            <a:r>
              <a:rPr lang="en-IN" dirty="0"/>
              <a:t>LEFT JOIN account a</a:t>
            </a:r>
          </a:p>
          <a:p>
            <a:r>
              <a:rPr lang="en-IN" dirty="0"/>
              <a:t>ON </a:t>
            </a:r>
            <a:r>
              <a:rPr lang="en-IN" dirty="0" err="1"/>
              <a:t>c.customer_id</a:t>
            </a:r>
            <a:r>
              <a:rPr lang="en-IN" dirty="0"/>
              <a:t> = </a:t>
            </a:r>
            <a:r>
              <a:rPr lang="en-IN" dirty="0" err="1"/>
              <a:t>a.customer_id</a:t>
            </a:r>
            <a:endParaRPr lang="en-IN" dirty="0"/>
          </a:p>
          <a:p>
            <a:endParaRPr lang="en-IN" dirty="0"/>
          </a:p>
          <a:p>
            <a:r>
              <a:rPr lang="en-IN" dirty="0"/>
              <a:t>UNION</a:t>
            </a:r>
          </a:p>
          <a:p>
            <a:endParaRPr lang="en-IN" dirty="0"/>
          </a:p>
          <a:p>
            <a:r>
              <a:rPr lang="en-IN" dirty="0"/>
              <a:t>SELECT </a:t>
            </a:r>
            <a:r>
              <a:rPr lang="en-IN" dirty="0" err="1"/>
              <a:t>c.customer_id</a:t>
            </a:r>
            <a:r>
              <a:rPr lang="en-IN" dirty="0"/>
              <a:t>,</a:t>
            </a:r>
          </a:p>
          <a:p>
            <a:r>
              <a:rPr lang="en-IN" dirty="0"/>
              <a:t>       </a:t>
            </a:r>
            <a:r>
              <a:rPr lang="en-IN" dirty="0" err="1"/>
              <a:t>c.full_name</a:t>
            </a:r>
            <a:r>
              <a:rPr lang="en-IN" dirty="0"/>
              <a:t>,</a:t>
            </a:r>
          </a:p>
          <a:p>
            <a:r>
              <a:rPr lang="en-IN" dirty="0"/>
              <a:t>       </a:t>
            </a:r>
            <a:r>
              <a:rPr lang="en-IN" dirty="0" err="1"/>
              <a:t>a.account_id</a:t>
            </a:r>
            <a:r>
              <a:rPr lang="en-IN" dirty="0"/>
              <a:t>,</a:t>
            </a:r>
          </a:p>
          <a:p>
            <a:r>
              <a:rPr lang="en-IN" dirty="0"/>
              <a:t>       </a:t>
            </a:r>
            <a:r>
              <a:rPr lang="en-IN" dirty="0" err="1"/>
              <a:t>a.account_type</a:t>
            </a:r>
            <a:r>
              <a:rPr lang="en-IN" dirty="0"/>
              <a:t>,</a:t>
            </a:r>
          </a:p>
          <a:p>
            <a:r>
              <a:rPr lang="en-IN" dirty="0"/>
              <a:t>       </a:t>
            </a:r>
            <a:r>
              <a:rPr lang="en-IN" dirty="0" err="1"/>
              <a:t>a.balance</a:t>
            </a:r>
            <a:endParaRPr lang="en-IN" dirty="0"/>
          </a:p>
          <a:p>
            <a:r>
              <a:rPr lang="en-IN" dirty="0"/>
              <a:t>FROM customer c</a:t>
            </a:r>
          </a:p>
          <a:p>
            <a:r>
              <a:rPr lang="en-IN" dirty="0"/>
              <a:t>RIGHT JOIN account a</a:t>
            </a:r>
          </a:p>
          <a:p>
            <a:r>
              <a:rPr lang="en-IN" dirty="0"/>
              <a:t>ON </a:t>
            </a:r>
            <a:r>
              <a:rPr lang="en-IN" dirty="0" err="1"/>
              <a:t>c.customer_id</a:t>
            </a:r>
            <a:r>
              <a:rPr lang="en-IN" dirty="0"/>
              <a:t> = </a:t>
            </a:r>
            <a:r>
              <a:rPr lang="en-IN" dirty="0" err="1"/>
              <a:t>a.customer_id</a:t>
            </a:r>
            <a:r>
              <a:rPr lang="en-IN" dirty="0"/>
              <a:t>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06981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8A42B20-D5E2-FAA7-8E3A-01DB385AF5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194" y="806671"/>
            <a:ext cx="7126664" cy="5659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6006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8F401-3627-8687-F971-652A45FA6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CROSS JOINS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68EE66-6AF0-FE61-EB80-4648E48483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757" y="1455272"/>
            <a:ext cx="6347714" cy="950255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SELECT c.full_name, </a:t>
            </a:r>
            <a:r>
              <a:rPr lang="en-US" dirty="0" err="1"/>
              <a:t>a.account_type</a:t>
            </a:r>
            <a:endParaRPr lang="en-US" dirty="0"/>
          </a:p>
          <a:p>
            <a:r>
              <a:rPr lang="en-US" dirty="0"/>
              <a:t>    -&gt; FROM customer c</a:t>
            </a:r>
          </a:p>
          <a:p>
            <a:r>
              <a:rPr lang="en-US" dirty="0"/>
              <a:t>    -&gt; CROSS JOIN account a;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E2D6B4-4655-C3C8-A78B-E0093A985E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" y="2579939"/>
            <a:ext cx="6872471" cy="3395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2117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C9D6D-E5D9-FAE4-9E9D-019DB51DF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SUBQUERY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A2E08-EBFC-760F-BED9-79DBC2DE9E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623" y="1270000"/>
            <a:ext cx="7016686" cy="907592"/>
          </a:xfrm>
        </p:spPr>
        <p:txBody>
          <a:bodyPr>
            <a:normAutofit/>
          </a:bodyPr>
          <a:lstStyle/>
          <a:p>
            <a:r>
              <a:rPr lang="en-US" dirty="0"/>
              <a:t>SELECT customer_id FROM account WHERE balance &gt;(SELECT AVG(balance) FROM account);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02499B-AC7A-61C8-4A86-C212B2836A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830" y="2283053"/>
            <a:ext cx="5611008" cy="2819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1924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A4798-B110-A9A7-DFD6-7A3DE655A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673" y="166541"/>
            <a:ext cx="6347713" cy="1320800"/>
          </a:xfrm>
        </p:spPr>
        <p:txBody>
          <a:bodyPr/>
          <a:lstStyle/>
          <a:p>
            <a:r>
              <a:rPr lang="en-IN" dirty="0"/>
              <a:t>CASE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6ED6BF-6C9D-2207-67ED-EC7C1C69D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660" y="1057654"/>
            <a:ext cx="7997073" cy="1883509"/>
          </a:xfrm>
        </p:spPr>
        <p:txBody>
          <a:bodyPr>
            <a:normAutofit/>
          </a:bodyPr>
          <a:lstStyle/>
          <a:p>
            <a:r>
              <a:rPr lang="en-US" dirty="0"/>
              <a:t>SELECT account_id, balance, CASE  WHEN balance &gt;= 100000 THEN 'High Value’ WHEN balance &gt;= 50000 THEN 'Medium Value’ ELSE 'Low Value’ END AS </a:t>
            </a:r>
            <a:r>
              <a:rPr lang="en-US" dirty="0" err="1"/>
              <a:t>customer_categoryFROM</a:t>
            </a:r>
            <a:r>
              <a:rPr lang="en-US" dirty="0"/>
              <a:t> account;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8EE74F-23CF-248A-63E7-E5F7D3A1DF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395" y="1999408"/>
            <a:ext cx="6791365" cy="4372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0411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68371-FE21-1173-ED66-B4AC2125D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624" y="226243"/>
            <a:ext cx="6347713" cy="766713"/>
          </a:xfrm>
        </p:spPr>
        <p:txBody>
          <a:bodyPr/>
          <a:lstStyle/>
          <a:p>
            <a:r>
              <a:rPr lang="en-IN" dirty="0"/>
              <a:t>CTE (WITH CLAUSE)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31022CB-BBCB-E7F8-8E72-7D87B01041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623" y="992956"/>
            <a:ext cx="7035539" cy="930112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WITH total_trans AS (  SELECT account_id, SUM(amount) </a:t>
            </a:r>
            <a:r>
              <a:rPr lang="en-US" dirty="0" err="1"/>
              <a:t>total_amountFROM</a:t>
            </a:r>
            <a:r>
              <a:rPr lang="en-US" dirty="0"/>
              <a:t> transaction_1GROUP BY account_id)</a:t>
            </a:r>
          </a:p>
          <a:p>
            <a:r>
              <a:rPr lang="en-US" dirty="0"/>
              <a:t>SELECT * FROM total_trans;</a:t>
            </a:r>
          </a:p>
          <a:p>
            <a:endParaRPr lang="en-IN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4264E99-3734-9A1B-2075-D5884116ED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622" y="2073959"/>
            <a:ext cx="6887536" cy="4048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2167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E42DF-A4FA-DA23-042E-E9F66BBF5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368" y="178343"/>
            <a:ext cx="6347713" cy="1320800"/>
          </a:xfrm>
        </p:spPr>
        <p:txBody>
          <a:bodyPr/>
          <a:lstStyle/>
          <a:p>
            <a:r>
              <a:rPr lang="en-IN" dirty="0"/>
              <a:t>WINDOW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9CF922-E449-5BEE-6AFE-FECD6F4A65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368" y="1170775"/>
            <a:ext cx="6347714" cy="109165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SELECT account_id, balance,</a:t>
            </a:r>
          </a:p>
          <a:p>
            <a:r>
              <a:rPr lang="en-US" dirty="0"/>
              <a:t>RANK() OVER (ORDER BY balance DESC) AS </a:t>
            </a:r>
            <a:r>
              <a:rPr lang="en-US" dirty="0" err="1"/>
              <a:t>rank_no</a:t>
            </a:r>
            <a:endParaRPr lang="en-US" dirty="0"/>
          </a:p>
          <a:p>
            <a:r>
              <a:rPr lang="en-US" dirty="0"/>
              <a:t>FROM account;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5A63165-2C11-F996-FD3C-89EB26E025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737" y="2563469"/>
            <a:ext cx="7097115" cy="327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0911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B86EE-3112-079B-A10D-6808242E6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929" y="109980"/>
            <a:ext cx="6347713" cy="1320800"/>
          </a:xfrm>
        </p:spPr>
        <p:txBody>
          <a:bodyPr/>
          <a:lstStyle/>
          <a:p>
            <a:r>
              <a:rPr lang="en-IN" dirty="0"/>
              <a:t>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911CC0-69E5-D6AF-CCDF-71980049CC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513" y="1064060"/>
            <a:ext cx="7026113" cy="1122959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CREATE VIEW </a:t>
            </a:r>
            <a:r>
              <a:rPr lang="en-US" dirty="0" err="1"/>
              <a:t>customer_account_view</a:t>
            </a:r>
            <a:r>
              <a:rPr lang="en-US" dirty="0"/>
              <a:t> ASSELECT c.customer_name, </a:t>
            </a:r>
            <a:r>
              <a:rPr lang="en-US" dirty="0" err="1"/>
              <a:t>a.balance</a:t>
            </a:r>
            <a:endParaRPr lang="en-US" dirty="0"/>
          </a:p>
          <a:p>
            <a:r>
              <a:rPr lang="en-US" dirty="0"/>
              <a:t>FROM customer c JOIN account a ON </a:t>
            </a:r>
            <a:r>
              <a:rPr lang="en-US" dirty="0" err="1"/>
              <a:t>c.customer_id</a:t>
            </a:r>
            <a:r>
              <a:rPr lang="en-US" dirty="0"/>
              <a:t> = a.customer_id;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2BD401-41E4-1793-1CF5-74658C6FE7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929" y="2187019"/>
            <a:ext cx="6096851" cy="2210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9819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3AAAD-EACE-74C4-5781-BF438ED18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INDEX (PERFORMANCE)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25F54C-0F0B-DFE2-A3BA-58634FC418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7" y="1446005"/>
            <a:ext cx="6347714" cy="714585"/>
          </a:xfrm>
        </p:spPr>
        <p:txBody>
          <a:bodyPr>
            <a:normAutofit lnSpcReduction="10000"/>
          </a:bodyPr>
          <a:lstStyle/>
          <a:p>
            <a:r>
              <a:rPr lang="en-IN" dirty="0"/>
              <a:t>CREATE INDEX </a:t>
            </a:r>
            <a:r>
              <a:rPr lang="en-IN" dirty="0" err="1"/>
              <a:t>idx_transaction_date</a:t>
            </a:r>
            <a:endParaRPr lang="en-IN" dirty="0"/>
          </a:p>
          <a:p>
            <a:r>
              <a:rPr lang="en-IN" dirty="0"/>
              <a:t>ON transaction_1(transaction_date);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D49F8CE-BBE2-2BCE-113F-13B70D1578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687" y="2341660"/>
            <a:ext cx="6163535" cy="2355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44293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D0BA9-649A-9188-A328-388A4098B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929" y="286993"/>
            <a:ext cx="6347713" cy="1320800"/>
          </a:xfrm>
        </p:spPr>
        <p:txBody>
          <a:bodyPr/>
          <a:lstStyle/>
          <a:p>
            <a:r>
              <a:rPr lang="en-IN" dirty="0"/>
              <a:t>STORED PROCEDURE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F3524-B633-FB0D-746A-7FA79D8B1C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929" y="1019948"/>
            <a:ext cx="6347714" cy="1855228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DELIMITER //</a:t>
            </a:r>
          </a:p>
          <a:p>
            <a:r>
              <a:rPr lang="en-US" dirty="0"/>
              <a:t>CREATE PROCEDURE </a:t>
            </a:r>
            <a:r>
              <a:rPr lang="en-US" dirty="0" err="1"/>
              <a:t>get_transactions</a:t>
            </a:r>
            <a:r>
              <a:rPr lang="en-US" dirty="0"/>
              <a:t>(IN </a:t>
            </a:r>
            <a:r>
              <a:rPr lang="en-US" dirty="0" err="1"/>
              <a:t>acc_id</a:t>
            </a:r>
            <a:r>
              <a:rPr lang="en-US" dirty="0"/>
              <a:t> INT)</a:t>
            </a:r>
          </a:p>
          <a:p>
            <a:r>
              <a:rPr lang="en-US" dirty="0"/>
              <a:t>BEGIN</a:t>
            </a:r>
          </a:p>
          <a:p>
            <a:r>
              <a:rPr lang="en-US" dirty="0"/>
              <a:t>    SELECT * FROM transaction_1</a:t>
            </a:r>
          </a:p>
          <a:p>
            <a:r>
              <a:rPr lang="en-US" dirty="0"/>
              <a:t>    WHERE account_id = </a:t>
            </a:r>
            <a:r>
              <a:rPr lang="en-US" dirty="0" err="1"/>
              <a:t>acc_id</a:t>
            </a:r>
            <a:r>
              <a:rPr lang="en-US" dirty="0"/>
              <a:t>;</a:t>
            </a:r>
          </a:p>
          <a:p>
            <a:r>
              <a:rPr lang="en-US" dirty="0"/>
              <a:t>END //</a:t>
            </a:r>
          </a:p>
          <a:p>
            <a:r>
              <a:rPr lang="en-US" dirty="0"/>
              <a:t>DELIMITER ;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CC883D0-4E19-AF52-9883-67C857E846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815" y="2996718"/>
            <a:ext cx="6697010" cy="2448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4204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6EE34-BC02-8579-5DF5-D01EDE368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09600"/>
            <a:ext cx="4716545" cy="724012"/>
          </a:xfrm>
        </p:spPr>
        <p:txBody>
          <a:bodyPr/>
          <a:lstStyle/>
          <a:p>
            <a:r>
              <a:rPr lang="en-IN" dirty="0"/>
              <a:t>BUSINESS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3CE050-5574-5C7F-1336-4298D4E0B2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9343" y="1500191"/>
            <a:ext cx="7101527" cy="724012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-- Monthly </a:t>
            </a:r>
            <a:r>
              <a:rPr lang="en-US" dirty="0" err="1"/>
              <a:t>transactionsSELECT</a:t>
            </a:r>
            <a:r>
              <a:rPr lang="en-US" dirty="0"/>
              <a:t> MONTH(transaction_date), SUM(amount)</a:t>
            </a:r>
          </a:p>
          <a:p>
            <a:r>
              <a:rPr lang="en-US" dirty="0"/>
              <a:t>FROM transaction_1GROUP BY MONTH(transaction_date);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66D11E-A8F9-FFB5-3756-7BD0852BD0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239" y="2313516"/>
            <a:ext cx="7897327" cy="3334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1098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SQL Concepts Covered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DDL &amp; DML</a:t>
            </a:r>
          </a:p>
          <a:p>
            <a:r>
              <a:rPr dirty="0"/>
              <a:t>• Joins &amp; Subqueries</a:t>
            </a:r>
          </a:p>
          <a:p>
            <a:r>
              <a:rPr dirty="0"/>
              <a:t>• CTEs &amp; Window Functions</a:t>
            </a:r>
          </a:p>
          <a:p>
            <a:r>
              <a:rPr dirty="0"/>
              <a:t>• Views &amp; Procedures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121</TotalTime>
  <Words>916</Words>
  <Application>Microsoft Office PowerPoint</Application>
  <PresentationFormat>On-screen Show (4:3)</PresentationFormat>
  <Paragraphs>103</Paragraphs>
  <Slides>32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Calibri</vt:lpstr>
      <vt:lpstr>Trebuchet MS</vt:lpstr>
      <vt:lpstr>Wingdings 3</vt:lpstr>
      <vt:lpstr>Facet</vt:lpstr>
      <vt:lpstr>Banking &amp; Financial Data Analysis Project</vt:lpstr>
      <vt:lpstr>Introduction</vt:lpstr>
      <vt:lpstr>Database Creation</vt:lpstr>
      <vt:lpstr>Customer Table – SQL Syntax     </vt:lpstr>
      <vt:lpstr>Insert  Customer Data (DML)</vt:lpstr>
      <vt:lpstr>SELECT QUERIES</vt:lpstr>
      <vt:lpstr>ACCOUNT TABLE</vt:lpstr>
      <vt:lpstr>Insert AccountData</vt:lpstr>
      <vt:lpstr>Select Queries</vt:lpstr>
      <vt:lpstr>TRANSACTION TABLE</vt:lpstr>
      <vt:lpstr>Insert Data</vt:lpstr>
      <vt:lpstr>Select Queries</vt:lpstr>
      <vt:lpstr>Filtering(Where Condition from Account )</vt:lpstr>
      <vt:lpstr>Filtering(Where Condition from transaction_1 )</vt:lpstr>
      <vt:lpstr>AGGREGATE FUNCTIONS</vt:lpstr>
      <vt:lpstr>AGGREGATE FUNCTIONS</vt:lpstr>
      <vt:lpstr>GROUP BY</vt:lpstr>
      <vt:lpstr>JOINS INNER JOINS </vt:lpstr>
      <vt:lpstr>LEFT JOIN</vt:lpstr>
      <vt:lpstr>RIGHT JOINS</vt:lpstr>
      <vt:lpstr>FULL OUTER JOINS</vt:lpstr>
      <vt:lpstr>PowerPoint Presentation</vt:lpstr>
      <vt:lpstr>CROSS JOINS</vt:lpstr>
      <vt:lpstr>SUBQUERY</vt:lpstr>
      <vt:lpstr>CASE STATEMENT</vt:lpstr>
      <vt:lpstr>CTE (WITH CLAUSE)</vt:lpstr>
      <vt:lpstr>WINDOW FUNCTION</vt:lpstr>
      <vt:lpstr>VIEW</vt:lpstr>
      <vt:lpstr>INDEX (PERFORMANCE)</vt:lpstr>
      <vt:lpstr>STORED PROCEDURE</vt:lpstr>
      <vt:lpstr>BUSINESS INSIGHTS</vt:lpstr>
      <vt:lpstr>Key SQL Concepts Covered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Surekha Gangadhari</dc:creator>
  <cp:keywords/>
  <dc:description>generated using python-pptx</dc:description>
  <cp:lastModifiedBy>Surekha Gangadhari</cp:lastModifiedBy>
  <cp:revision>2</cp:revision>
  <dcterms:created xsi:type="dcterms:W3CDTF">2013-01-27T09:14:16Z</dcterms:created>
  <dcterms:modified xsi:type="dcterms:W3CDTF">2025-12-16T06:49:36Z</dcterms:modified>
  <cp:category/>
</cp:coreProperties>
</file>